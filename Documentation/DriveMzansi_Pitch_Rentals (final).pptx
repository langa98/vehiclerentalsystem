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2" r:id="rId13"/>
    <p:sldId id="263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3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2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DriveMzansi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3C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it. Book it. Drive it.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run car rentals, from booking to payment.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Group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rentals shouldn’t mean juggling spreadsheets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73152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records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vehicle and booking details end up in separate places, with separate versions.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7373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347472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Double-booking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31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can be booked twice for the same dates, because nothing checks availability.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621792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spots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31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availability, booking status or revenue.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Three promises.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3D0F1A"/>
          </a:solidFill>
          <a:ln w="9525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73152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fleet by category, with a daily rate for each vehicle and its current status.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3D0F1A"/>
          </a:solidFill>
          <a:ln w="9525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347472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car for any start and end date, then track the booking from pending to completed.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3D0F1A"/>
          </a:solidFill>
          <a:ln w="9525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621792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is available, booked or cancelled, and where revenue comes from, right now.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your rental desk needs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731520" y="1490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&amp; dashboard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and a home screen with live statistics and graphs.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3474720" y="1490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management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 and track every car, its category and status.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3258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6217920" y="1490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customer, including the licence needed to rent.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 txBox="1"/>
          <p:nvPr/>
        </p:nvSpPr>
        <p:spPr>
          <a:xfrm>
            <a:off x="731520" y="3227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bookings with start and end dates and track each booking’s status.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0632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3474720" y="3227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Card, EFT or Mobile Money, tied to a booking.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0632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 txBox="1"/>
          <p:nvPr/>
        </p:nvSpPr>
        <p:spPr>
          <a:xfrm>
            <a:off x="6217920" y="3227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booking history and revenue, filtered and ready to use.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access for every user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73152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system: vehicles, customers, user roles and table structure, plus reports across the business.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347472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rental desk: registers customers, processes bookings and records payments.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621792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to see their own details and rental activity, linked to their customer record.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stored as hashes, never in plain text.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 clean, connected data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" name="Image 0" descr="DriveMzansi rental E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69847"/>
            <a:ext cx="7498080" cy="3495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3D0F1A"/>
                </a:solidFill>
                <a:latin typeface="Georgia"/>
                <a:ea typeface="Georgia"/>
                <a:cs typeface="Georgia"/>
              </a:rPr>
              <a:t>UNF to 1NF: one table per entity</a:t>
            </a:r>
          </a:p>
        </p:txBody>
      </p:sp>
      <p:sp>
        <p:nvSpPr>
          <p:cNvPr id="11" name="Shape 2"/>
          <p:cNvSpPr/>
          <p:nvPr/>
        </p:nvSpPr>
        <p:spPr>
          <a:xfrm>
            <a:off x="548640" y="1188720"/>
            <a:ext cx="2651760" cy="3474720"/>
          </a:xfrm>
          <a:prstGeom prst="roundRect">
            <a:avLst>
              <a:gd name="adj" fmla="val 3000"/>
            </a:avLst>
          </a:prstGeom>
          <a:solidFill>
            <a:srgbClr val="3D0F1A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C9A24B"/>
                </a:solidFill>
                <a:latin typeface="Georgia"/>
                <a:ea typeface="Georgia"/>
                <a:cs typeface="Georgia"/>
              </a:rPr>
              <a:t>UNF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All 29 attributes in one flat list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1988720"/>
            <a:ext cx="114300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CustomerID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CustomerFirstName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CustomerLastName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CustomerPhone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CustomerEmail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DriverLicenseNo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CategoryID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CategoryName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DailyRate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VehicleID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RegistrationNo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Make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Model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Year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VehicleStatus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920240" y="1988720"/>
            <a:ext cx="114300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VehicleSalePrice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UserID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Username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PasswordHash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Role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PaymentID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Amount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PaymentDate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PaymentMethod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BookingID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StartDate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EndDate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ActualReturnDate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BookingStatus</a:t>
            </a:r>
          </a:p>
        </p:txBody>
      </p:sp>
      <p:sp>
        <p:nvSpPr>
          <p:cNvPr id="5" name="Shape 5"/>
          <p:cNvSpPr/>
          <p:nvPr/>
        </p:nvSpPr>
        <p:spPr>
          <a:xfrm>
            <a:off x="3337560" y="1188720"/>
            <a:ext cx="16611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Customer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CustomerFirstName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CustomerLastName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CustomerPhone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CustomerEmail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DriverLicenseNo</a:t>
            </a:r>
          </a:p>
        </p:txBody>
      </p:sp>
      <p:sp>
        <p:nvSpPr>
          <p:cNvPr id="6" name="Shape 6"/>
          <p:cNvSpPr/>
          <p:nvPr/>
        </p:nvSpPr>
        <p:spPr>
          <a:xfrm>
            <a:off x="5135880" y="1188720"/>
            <a:ext cx="16611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User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UserID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Username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PasswordHash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Role</a:t>
            </a:r>
          </a:p>
        </p:txBody>
      </p:sp>
      <p:sp>
        <p:nvSpPr>
          <p:cNvPr id="7" name="Shape 7"/>
          <p:cNvSpPr/>
          <p:nvPr/>
        </p:nvSpPr>
        <p:spPr>
          <a:xfrm>
            <a:off x="6934200" y="1188720"/>
            <a:ext cx="16611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Category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CategoryID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CategoryName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DailyRate</a:t>
            </a:r>
          </a:p>
        </p:txBody>
      </p:sp>
      <p:sp>
        <p:nvSpPr>
          <p:cNvPr id="8" name="Shape 8"/>
          <p:cNvSpPr/>
          <p:nvPr/>
        </p:nvSpPr>
        <p:spPr>
          <a:xfrm>
            <a:off x="3337560" y="2994660"/>
            <a:ext cx="16611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Vehicle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VehicleID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RegistrationNo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Make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Model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Year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VehicleStatus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VehicleSalePrice</a:t>
            </a:r>
          </a:p>
        </p:txBody>
      </p:sp>
      <p:sp>
        <p:nvSpPr>
          <p:cNvPr id="9" name="Shape 9"/>
          <p:cNvSpPr/>
          <p:nvPr/>
        </p:nvSpPr>
        <p:spPr>
          <a:xfrm>
            <a:off x="5135880" y="2994660"/>
            <a:ext cx="16611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Booking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BookingID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StartDate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EndDate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ActualReturnDate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BookingStatus</a:t>
            </a:r>
          </a:p>
        </p:txBody>
      </p:sp>
      <p:sp>
        <p:nvSpPr>
          <p:cNvPr id="10" name="Shape 10"/>
          <p:cNvSpPr/>
          <p:nvPr/>
        </p:nvSpPr>
        <p:spPr>
          <a:xfrm>
            <a:off x="6934200" y="2994660"/>
            <a:ext cx="16611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Payment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PaymentID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Amount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PaymentDate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PaymentMethod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3D0F1A"/>
                </a:solidFill>
                <a:latin typeface="Georgia"/>
                <a:ea typeface="Georgia"/>
                <a:cs typeface="Georgia"/>
              </a:rPr>
              <a:t>2NF and 3NF: linked by foreign keys</a:t>
            </a:r>
          </a:p>
        </p:txBody>
      </p:sp>
      <p:sp>
        <p:nvSpPr>
          <p:cNvPr id="9" name="Shape 2"/>
          <p:cNvSpPr/>
          <p:nvPr/>
        </p:nvSpPr>
        <p:spPr>
          <a:xfrm>
            <a:off x="548640" y="1188720"/>
            <a:ext cx="1920240" cy="3474720"/>
          </a:xfrm>
          <a:prstGeom prst="roundRect">
            <a:avLst>
              <a:gd name="adj" fmla="val 3000"/>
            </a:avLst>
          </a:prstGeom>
          <a:solidFill>
            <a:srgbClr val="3D0F1A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9A24B"/>
                </a:solidFill>
                <a:latin typeface="Georgia"/>
                <a:ea typeface="Georgia"/>
                <a:cs typeface="Georgia"/>
              </a:rPr>
              <a:t>2NF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Every attribute depends on its whole key. Foreign keys (*) connect the tables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9A24B"/>
                </a:solidFill>
                <a:latin typeface="Georgia"/>
                <a:ea typeface="Georgia"/>
                <a:cs typeface="Georgia"/>
              </a:rPr>
              <a:t>3NF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FAF6EE"/>
                </a:solidFill>
                <a:latin typeface="Calibri"/>
                <a:ea typeface="Calibri"/>
                <a:cs typeface="Calibri"/>
              </a:rPr>
              <a:t>No indirect dependencies, so the tables stay as they are</a:t>
            </a:r>
          </a:p>
        </p:txBody>
      </p:sp>
      <p:sp>
        <p:nvSpPr>
          <p:cNvPr id="3" name="Shape 3"/>
          <p:cNvSpPr/>
          <p:nvPr/>
        </p:nvSpPr>
        <p:spPr>
          <a:xfrm>
            <a:off x="2651760" y="1188720"/>
            <a:ext cx="18897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Customer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CustomerFirstName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CustomerLastName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CustomerPhone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CustomerEmail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DriverLicenseNo</a:t>
            </a:r>
          </a:p>
        </p:txBody>
      </p:sp>
      <p:sp>
        <p:nvSpPr>
          <p:cNvPr id="4" name="Shape 4"/>
          <p:cNvSpPr/>
          <p:nvPr/>
        </p:nvSpPr>
        <p:spPr>
          <a:xfrm>
            <a:off x="4678680" y="1188720"/>
            <a:ext cx="18897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User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UserID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Username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PasswordHash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Role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8A6A1F"/>
                </a:solidFill>
                <a:latin typeface="Calibri"/>
                <a:ea typeface="Calibri"/>
                <a:cs typeface="Calibri"/>
              </a:rPr>
              <a:t>CustomerID *</a:t>
            </a:r>
          </a:p>
        </p:txBody>
      </p:sp>
      <p:sp>
        <p:nvSpPr>
          <p:cNvPr id="5" name="Shape 5"/>
          <p:cNvSpPr/>
          <p:nvPr/>
        </p:nvSpPr>
        <p:spPr>
          <a:xfrm>
            <a:off x="6705600" y="1188720"/>
            <a:ext cx="18897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Category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CategoryID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CategoryName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DailyRate</a:t>
            </a:r>
          </a:p>
        </p:txBody>
      </p:sp>
      <p:sp>
        <p:nvSpPr>
          <p:cNvPr id="6" name="Shape 6"/>
          <p:cNvSpPr/>
          <p:nvPr/>
        </p:nvSpPr>
        <p:spPr>
          <a:xfrm>
            <a:off x="2651760" y="2994660"/>
            <a:ext cx="18897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Vehicle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VehicleID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RegistrationNo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Make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Model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Year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VehicleStatus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VehicleSalePrice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8A6A1F"/>
                </a:solidFill>
                <a:latin typeface="Calibri"/>
                <a:ea typeface="Calibri"/>
                <a:cs typeface="Calibri"/>
              </a:rPr>
              <a:t>CategoryID *</a:t>
            </a:r>
          </a:p>
        </p:txBody>
      </p:sp>
      <p:sp>
        <p:nvSpPr>
          <p:cNvPr id="7" name="Shape 7"/>
          <p:cNvSpPr/>
          <p:nvPr/>
        </p:nvSpPr>
        <p:spPr>
          <a:xfrm>
            <a:off x="4678680" y="2994660"/>
            <a:ext cx="18897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Booking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BookingID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StartDate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EndDate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ActualReturnDate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BookingStatus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8A6A1F"/>
                </a:solidFill>
                <a:latin typeface="Calibri"/>
                <a:ea typeface="Calibri"/>
                <a:cs typeface="Calibri"/>
              </a:rPr>
              <a:t>CustomerID *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8A6A1F"/>
                </a:solidFill>
                <a:latin typeface="Calibri"/>
                <a:ea typeface="Calibri"/>
                <a:cs typeface="Calibri"/>
              </a:rPr>
              <a:t>VehicleID *</a:t>
            </a:r>
          </a:p>
        </p:txBody>
      </p:sp>
      <p:sp>
        <p:nvSpPr>
          <p:cNvPr id="8" name="Shape 8"/>
          <p:cNvSpPr/>
          <p:nvPr/>
        </p:nvSpPr>
        <p:spPr>
          <a:xfrm>
            <a:off x="6705600" y="2994660"/>
            <a:ext cx="1889760" cy="16687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DFCF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C1A2B"/>
                </a:solidFill>
                <a:latin typeface="Georgia"/>
                <a:ea typeface="Georgia"/>
                <a:cs typeface="Georgia"/>
              </a:rPr>
              <a:t>Payment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PaymentID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Amount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B1A1F"/>
                </a:solidFill>
                <a:latin typeface="Calibri"/>
                <a:ea typeface="Calibri"/>
                <a:cs typeface="Calibri"/>
              </a:rPr>
              <a:t>PaymentDate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8A6A1F"/>
                </a:solidFill>
                <a:latin typeface="Calibri"/>
                <a:ea typeface="Calibri"/>
                <a:cs typeface="Calibri"/>
              </a:rPr>
              <a:t>BookingID 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accuracy: normalized to 3NF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3NF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repeated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5C1A2B"/>
          </a:solidFill>
          <a:ln w="9525">
            <a:solidFill>
              <a:srgbClr val="5C1A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731520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vehicle, one category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218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belongs to one category, which sets its daily rate.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5C1A2B"/>
          </a:solidFill>
          <a:ln w="9525">
            <a:solidFill>
              <a:srgbClr val="5C1A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4846320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29000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accounted for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218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payment is tied to a single booking.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5C1A2B"/>
          </a:solidFill>
          <a:ln w="9525">
            <a:solidFill>
              <a:srgbClr val="5C1A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 txBox="1"/>
          <p:nvPr/>
        </p:nvSpPr>
        <p:spPr>
          <a:xfrm>
            <a:off x="731520" y="3959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389120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booking status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178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confirmed, completed or cancelled, so nothing is ambiguous.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7947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5C1A2B"/>
          </a:solidFill>
          <a:ln w="9525">
            <a:solidFill>
              <a:srgbClr val="5C1A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4846320" y="3959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389120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4178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licences and usernames are unique.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in a single query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vehicles</a:t>
            </a:r>
            <a:endParaRPr lang="en-US" sz="1400" dirty="0"/>
          </a:p>
        </p:txBody>
      </p:sp>
      <p:pic>
        <p:nvPicPr>
          <p:cNvPr id="5" name="Image 0" descr="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2194560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rented right now.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9184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payment method</a:t>
            </a:r>
            <a:endParaRPr lang="en-US" sz="1400" dirty="0"/>
          </a:p>
        </p:txBody>
      </p:sp>
      <p:pic>
        <p:nvPicPr>
          <p:cNvPr id="9" name="Image 1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011680"/>
            <a:ext cx="2194560" cy="50821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7472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is coming from.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35040" y="137160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8"/>
          <p:cNvSpPr txBox="1"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Bookings by status</a:t>
            </a:r>
            <a:endParaRPr lang="en-US" sz="1400" dirty="0"/>
          </a:p>
        </p:txBody>
      </p:sp>
      <p:pic>
        <p:nvPicPr>
          <p:cNvPr id="13" name="Image 2" descr="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011680"/>
            <a:ext cx="2194560" cy="8219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Completed, confirmed, pending, cancelled.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customer booking history, payment trends and per-customer booking counts.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it. Book it. Drive it.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DriveMzansi: one system for every rental on the road.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and MySQL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3C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80F385C58BFC4DA67C2E6AB1543179" ma:contentTypeVersion="10" ma:contentTypeDescription="Create a new document." ma:contentTypeScope="" ma:versionID="4ca6ed0c45a218519f4a026b9912bc21">
  <xsd:schema xmlns:xsd="http://www.w3.org/2001/XMLSchema" xmlns:xs="http://www.w3.org/2001/XMLSchema" xmlns:p="http://schemas.microsoft.com/office/2006/metadata/properties" xmlns:ns3="af88d79d-5c2a-462e-ad16-a524bcd22a97" targetNamespace="http://schemas.microsoft.com/office/2006/metadata/properties" ma:root="true" ma:fieldsID="237245b820684820062e0ecddfaf2db7" ns3:_="">
    <xsd:import namespace="af88d79d-5c2a-462e-ad16-a524bcd22a9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88d79d-5c2a-462e-ad16-a524bcd22a9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88d79d-5c2a-462e-ad16-a524bcd22a97" xsi:nil="true"/>
  </documentManagement>
</p:properties>
</file>

<file path=customXml/itemProps1.xml><?xml version="1.0" encoding="utf-8"?>
<ds:datastoreItem xmlns:ds="http://schemas.openxmlformats.org/officeDocument/2006/customXml" ds:itemID="{131CFBDA-B144-44A6-A491-4DBB5C3D61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88d79d-5c2a-462e-ad16-a524bcd22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8A7549-00A5-4A8F-8035-6B63CB7900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0B6835-E9B7-4A07-9C9C-08EC2B68964D}">
  <ds:schemaRefs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af88d79d-5c2a-462e-ad16-a524bcd22a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632</Words>
  <Application>Microsoft Office PowerPoint</Application>
  <PresentationFormat>On-screen Show (16:9)</PresentationFormat>
  <Paragraphs>189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DriveMzansi Pitch</dc:title>
  <dc:subject>PptxGenJS Presentation</dc:subject>
  <dc:creator>PptxGenJS</dc:creator>
  <cp:lastModifiedBy>Thato Hope Modau</cp:lastModifiedBy>
  <cp:revision>2</cp:revision>
  <dcterms:created xsi:type="dcterms:W3CDTF">2026-09-29T20:30:05Z</dcterms:created>
  <dcterms:modified xsi:type="dcterms:W3CDTF">2026-10-04T09:28:49Z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0x0101005C80F385C58BFC4DA67C2E6AB1543179</vt:lpwstr>
  </property>
</Properties>
</file>